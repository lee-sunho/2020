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d6eccae69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안녕하세요 실전 설계 프로젝트에 참여한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팀 김종헌, 이선호, 조재영의 발표를 맡은 조재영입니다.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저희의 이번 프로젝트 주제는 편의점 발주 시스템 입니다.</a:t>
            </a:r>
            <a:endParaRPr/>
          </a:p>
        </p:txBody>
      </p:sp>
      <p:sp>
        <p:nvSpPr>
          <p:cNvPr id="127" name="Google Shape;127;gad6eccae69_6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d6eccae69_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발표 순서는  첫째로 왜 이런 주제를 선택했는지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프로젝트 주제 선정 동기를 밝히고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다음으로는 프로젝트 안에 있는 기능들에 대해 설명하며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마지막으로는 이런 기능을 구현하게 해준 코드들을 설명하려 합니다.</a:t>
            </a:r>
            <a:endParaRPr/>
          </a:p>
        </p:txBody>
      </p:sp>
      <p:sp>
        <p:nvSpPr>
          <p:cNvPr id="146" name="Google Shape;146;gad6eccae69_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d6eccae69_6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주제 선정 동기입니다.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설계 프로젝트를 진행하던 시기에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저는 편의점 알바를 했었는데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이때 실제로 가게에서 물품을 발주하는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프로그램에 알게 되어 이 프로그램에 대해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궁금증을 가지게 되었고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선배와 함께할 수 있는 이번 기회에  궁금증을 해소하고 실제로 구현해보고자 편의점 물품 발주라는 주제를 선정했습니다. </a:t>
            </a:r>
            <a:endParaRPr/>
          </a:p>
        </p:txBody>
      </p:sp>
      <p:sp>
        <p:nvSpPr>
          <p:cNvPr id="169" name="Google Shape;169;gad6eccae69_6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ad6eccae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 프로젝트 소개입니다.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프로젝트 중에 중요한 기능이라고 할 수 있는 소켓 통신입니다.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저희는 실제로 물품을 발주할 클라이언트와 발주 내역과 발주 물품 등을 저장할 서버를 나누고 싶었고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위에 그림처럼 저희는 서버와 클라이언트를 연결할 수 있는 방법 중에 소켓 통신을 사용했습니다.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위의 그림처럼 소켓 통신은 서버와 클라이언트에서 양측에서 소켓을 생성하고 연결 후 데이터를 주고 받다 종료됩니다.</a:t>
            </a:r>
            <a:endParaRPr/>
          </a:p>
        </p:txBody>
      </p:sp>
      <p:sp>
        <p:nvSpPr>
          <p:cNvPr id="191" name="Google Shape;191;gad6eccae6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d6eccae6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다음으로는 로그인 기능입니다.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서버에 txt파일로 회원정보가 저장이 되어있고 클라이언트측에서 로그인 데이터를 입력하면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서버가 받은 데이터로 로그인 성공여부를 판단후 클라이언트에게 통보하는 방식으로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진행됩니다.</a:t>
            </a:r>
            <a:endParaRPr/>
          </a:p>
        </p:txBody>
      </p:sp>
      <p:sp>
        <p:nvSpPr>
          <p:cNvPr id="213" name="Google Shape;213;gad6eccae69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d6eccae6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물품 리스트 확인 기능입니다.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여기서 클라이언트는 서버에게 발주 가능한 상품 조회를 요청하면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서버는 가지고 있는 발주가능한 txt파일로 저장된 상품 데이터를 클라이언트에게 전달하여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어떤 물품을 발주할 수 있는지 알려주는 기능을 합니다.</a:t>
            </a:r>
            <a:endParaRPr/>
          </a:p>
        </p:txBody>
      </p:sp>
      <p:sp>
        <p:nvSpPr>
          <p:cNvPr id="235" name="Google Shape;235;gad6eccae69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ad6eccae6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물품 발주 기능입니다.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앞에서는 발주 가능한 물품을 확인했다면 여기서는 발주가능한 물품을 확인한 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어떤 물품을 몇개 원하는지 서버에게 전달하면 서버는 발주 성공여부를 클라이언트에게 전달한 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클라이언트가 요청한 발주상품이 존재하는지 개수는 맞는지 등을 검사하여 발주가 성공했으면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발주데이터txt파일에 저장합니다.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ad6eccae69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ad6eccae6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마지막으로 발주 리스트 확인입니다.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앞에서 발주한 물건들을 확인하기 위해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클라이언트가 발주 내역 조회를 요청하면 서버는 앞에서 저장한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상품 발주내역 데이터들을 클라이언트 측에 전달합니다.</a:t>
            </a:r>
            <a:endParaRPr/>
          </a:p>
        </p:txBody>
      </p:sp>
      <p:sp>
        <p:nvSpPr>
          <p:cNvPr id="279" name="Google Shape;279;gad6eccae69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d6eccae6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이어</a:t>
            </a:r>
            <a:r>
              <a:rPr lang="ko"/>
              <a:t>서 발표를 맡게 된 이선호 입니다. 저는 저희가 작성한 코드를 설명해 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가장 먼저 보여드릴 코드는 소켓 통신을 하기 위해 서버 소켓을 여는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socket 함수를 통해 소켓을 생성한 후 bind와 listen을 통해 클라이언트와 통신할 준비를 합니다.</a:t>
            </a:r>
            <a:endParaRPr/>
          </a:p>
        </p:txBody>
      </p:sp>
      <p:sp>
        <p:nvSpPr>
          <p:cNvPr id="301" name="Google Shape;301;gad6eccae6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ad6eccae6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</a:t>
            </a:r>
            <a:r>
              <a:rPr lang="ko"/>
              <a:t>는 클라이언트 로그인 기능입니다. 먼저 클라이언트로부터 사용자 아이디와 비밀번호 데이터를 받은 후,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User.txt 파일에 저장된 회원정보 데이터를 fscanf 함수를 통해 읽어와 비교를 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이때 아이디와 비밀번호가 둘다 일치 할 경우 로그인에 성공하고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아이디가 없거나 비밀번호가 틀린 경우 클라이언트에게 실패 데이터를 전달합니다.</a:t>
            </a:r>
            <a:endParaRPr/>
          </a:p>
        </p:txBody>
      </p:sp>
      <p:sp>
        <p:nvSpPr>
          <p:cNvPr id="322" name="Google Shape;322;gad6eccae69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ad6eccae6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</a:t>
            </a:r>
            <a:r>
              <a:rPr lang="ko"/>
              <a:t>인 결과에 대한 사진입니다.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로그인이 실패할 경우 로그인 정보가 맞지 않습니다. 다시 로그인 해주십시오라는 메시지를 보내 클라이언트가 재로그인을 하도록 유도합니다.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 성공 시에는 발주 프로그램의 메뉴를 출력하여 클라이언트가 번호를 통해 해당 기능을 실행하도록 합니다.</a:t>
            </a:r>
            <a:endParaRPr/>
          </a:p>
        </p:txBody>
      </p:sp>
      <p:sp>
        <p:nvSpPr>
          <p:cNvPr id="343" name="Google Shape;343;gad6eccae69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ad6eccae69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발주 가능한 상품 내역을 보여주는 기능의 코드입니다.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발주</a:t>
            </a:r>
            <a:r>
              <a:rPr lang="ko"/>
              <a:t>가 가능한 상품 리스트는 ItemList.txt 파일에 저장되어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만약 클라이언트가 발주 가능 상품 리스트를 보고자 한다면 서버는 해당 파일에서 상품의 이름과 가격을 fscanf로 읽어와 차례대로 클라이언트에게 전송합니다. </a:t>
            </a:r>
            <a:endParaRPr/>
          </a:p>
        </p:txBody>
      </p:sp>
      <p:sp>
        <p:nvSpPr>
          <p:cNvPr id="365" name="Google Shape;365;gad6eccae69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ad6eccae69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사진이 </a:t>
            </a:r>
            <a:r>
              <a:rPr lang="ko"/>
              <a:t>발주 가능 상품 리스트 조회한 결과입니다.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메뉴선택에서 3을 선택하여 기능을 실행하면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총 5개의 상품이 발주 가능하며  5개의 우유 제품과 가격이 실제로 출력된 것을 확인할 수 있습니다.</a:t>
            </a:r>
            <a:endParaRPr/>
          </a:p>
        </p:txBody>
      </p:sp>
      <p:sp>
        <p:nvSpPr>
          <p:cNvPr id="386" name="Google Shape;386;gad6eccae69_0_4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ad6eccae6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상품을 발주하는 기능의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클라이언트</a:t>
            </a:r>
            <a:r>
              <a:rPr lang="ko"/>
              <a:t>가 물품을 주문하기 위해서는 상품 코드와 개수를 정확히 입력해야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클라이언트에게 받은 상품 코드와 개수 데이터가 올바른지 확인해 올바른 요청인 경우 발주 성공 메시지를 클라이언트에게 전송하고, OrderList.txt 파일에 발주와 관련된 데이터를 저장합니다.</a:t>
            </a:r>
            <a:endParaRPr/>
          </a:p>
        </p:txBody>
      </p:sp>
      <p:sp>
        <p:nvSpPr>
          <p:cNvPr id="407" name="Google Shape;407;gad6eccae69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ad6eccae69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</a:t>
            </a:r>
            <a:r>
              <a:rPr lang="ko"/>
              <a:t>품 발주 결과입니다.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메뉴에서 2를 입력하여 상품 발주 기능을 실행하면 발주할 상품의 번호, 상품의 개수를 입력하게 됩니다.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앞서 보신 상품 리스트에서 3번 서울우유(딸기) 상품을 10개 발주하여 성공 한 것을 확인할 수 있으며 발주 상품의 개수는 1개 이상 100개 이하만 가능 한 것도 확인할 수 있습니다.</a:t>
            </a:r>
            <a:endParaRPr/>
          </a:p>
        </p:txBody>
      </p:sp>
      <p:sp>
        <p:nvSpPr>
          <p:cNvPr id="428" name="Google Shape;428;gad6eccae69_0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ad6eccae69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클라이언트</a:t>
            </a:r>
            <a:r>
              <a:rPr lang="ko"/>
              <a:t>가 이전에 발주한 기록을 확인하는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OrderList.txt 파일에 발주 데이터가 저장되어 있으며 해당 데이터는 발주 시간, 클라이언트 아이디, 상품 이름, 발주한 상품 개수로 구성되어 있기 때문에 클라이언트 아이디를 통해 원하는 데이터를 클라이언트에게 전송할 수 있습니다.</a:t>
            </a:r>
            <a:endParaRPr/>
          </a:p>
        </p:txBody>
      </p:sp>
      <p:sp>
        <p:nvSpPr>
          <p:cNvPr id="449" name="Google Shape;449;gad6eccae69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ad6eccae69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최근 발주 내역을 실행한 결과입니다.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메뉴에서 4번을 입력해 기능을 실행하면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지금까지 발주한 상품 수를 보여주고 발주한 날짜, 시간과 함께 상품명, 개수를 출력해줍니다. </a:t>
            </a:r>
            <a:endParaRPr/>
          </a:p>
        </p:txBody>
      </p:sp>
      <p:sp>
        <p:nvSpPr>
          <p:cNvPr id="470" name="Google Shape;470;gad6eccae69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ad6eccae69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기능들의 코드리뷰가 끝났습니다. 지금부터는 QnA 시간을 진행하겠습니다.</a:t>
            </a:r>
            <a:endParaRPr/>
          </a:p>
        </p:txBody>
      </p:sp>
      <p:sp>
        <p:nvSpPr>
          <p:cNvPr id="491" name="Google Shape;491;gad6eccae69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b="0" i="0" sz="3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803"/>
          </a:schemeClr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0" name="Google Shape;130;p25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47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5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25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9" name="Google Shape;139;p25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0" name="Google Shape;140;p25"/>
          <p:cNvSpPr/>
          <p:nvPr/>
        </p:nvSpPr>
        <p:spPr>
          <a:xfrm>
            <a:off x="2609225" y="3601128"/>
            <a:ext cx="39183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20201485 이선호</a:t>
            </a:r>
            <a:endParaRPr sz="13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20201505 조재영</a:t>
            </a:r>
            <a:endParaRPr sz="13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20152368 김종헌</a:t>
            </a:r>
            <a:endParaRPr sz="13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1" name="Google Shape;141;p25"/>
          <p:cNvGrpSpPr/>
          <p:nvPr/>
        </p:nvGrpSpPr>
        <p:grpSpPr>
          <a:xfrm>
            <a:off x="2199248" y="1164736"/>
            <a:ext cx="4738247" cy="2215293"/>
            <a:chOff x="2451220" y="967795"/>
            <a:chExt cx="4241561" cy="2412385"/>
          </a:xfrm>
        </p:grpSpPr>
        <p:sp>
          <p:nvSpPr>
            <p:cNvPr id="142" name="Google Shape;142;p25"/>
            <p:cNvSpPr/>
            <p:nvPr/>
          </p:nvSpPr>
          <p:spPr>
            <a:xfrm>
              <a:off x="2451220" y="1121286"/>
              <a:ext cx="4241561" cy="2258893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600">
                  <a:solidFill>
                    <a:srgbClr val="3A3838"/>
                  </a:solidFill>
                </a:rPr>
                <a:t>실전 설계 프로젝트</a:t>
              </a:r>
              <a:r>
                <a:rPr b="0" i="0" lang="ko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b="1" i="0" sz="36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3600">
                  <a:solidFill>
                    <a:srgbClr val="3A3838"/>
                  </a:solidFill>
                </a:rPr>
                <a:t>편의점 발주 시스템</a:t>
              </a:r>
              <a:endParaRPr b="1" i="0" sz="36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3" name="Google Shape;143;p25"/>
            <p:cNvSpPr/>
            <p:nvPr/>
          </p:nvSpPr>
          <p:spPr>
            <a:xfrm rot="-5550834">
              <a:off x="4440750" y="634918"/>
              <a:ext cx="262501" cy="970573"/>
            </a:xfrm>
            <a:custGeom>
              <a:rect b="b" l="l" r="r" t="t"/>
              <a:pathLst>
                <a:path extrusionOk="0" h="1511300" w="299142">
                  <a:moveTo>
                    <a:pt x="0" y="102349"/>
                  </a:moveTo>
                  <a:cubicBezTo>
                    <a:pt x="115" y="134915"/>
                    <a:pt x="231" y="167481"/>
                    <a:pt x="346" y="200047"/>
                  </a:cubicBezTo>
                  <a:cubicBezTo>
                    <a:pt x="1058" y="219097"/>
                    <a:pt x="-264" y="371632"/>
                    <a:pt x="448" y="390682"/>
                  </a:cubicBezTo>
                  <a:cubicBezTo>
                    <a:pt x="2565" y="803432"/>
                    <a:pt x="-1425" y="1060450"/>
                    <a:pt x="692" y="1473200"/>
                  </a:cubicBezTo>
                  <a:lnTo>
                    <a:pt x="57842" y="1397000"/>
                  </a:lnTo>
                  <a:lnTo>
                    <a:pt x="102292" y="1473200"/>
                  </a:lnTo>
                  <a:lnTo>
                    <a:pt x="146742" y="1416050"/>
                  </a:lnTo>
                  <a:lnTo>
                    <a:pt x="172142" y="1460500"/>
                  </a:lnTo>
                  <a:lnTo>
                    <a:pt x="172142" y="1397000"/>
                  </a:lnTo>
                  <a:lnTo>
                    <a:pt x="235642" y="1466850"/>
                  </a:lnTo>
                  <a:lnTo>
                    <a:pt x="254692" y="1498600"/>
                  </a:lnTo>
                  <a:lnTo>
                    <a:pt x="254692" y="1441450"/>
                  </a:lnTo>
                  <a:lnTo>
                    <a:pt x="299142" y="1511300"/>
                  </a:lnTo>
                  <a:lnTo>
                    <a:pt x="299142" y="0"/>
                  </a:lnTo>
                  <a:lnTo>
                    <a:pt x="267392" y="63500"/>
                  </a:lnTo>
                  <a:lnTo>
                    <a:pt x="241992" y="19050"/>
                  </a:lnTo>
                  <a:lnTo>
                    <a:pt x="229292" y="95250"/>
                  </a:lnTo>
                  <a:lnTo>
                    <a:pt x="178492" y="25400"/>
                  </a:lnTo>
                  <a:lnTo>
                    <a:pt x="184842" y="101600"/>
                  </a:lnTo>
                  <a:lnTo>
                    <a:pt x="134042" y="31750"/>
                  </a:lnTo>
                  <a:lnTo>
                    <a:pt x="121342" y="107950"/>
                  </a:lnTo>
                  <a:lnTo>
                    <a:pt x="79252" y="1993"/>
                  </a:lnTo>
                  <a:lnTo>
                    <a:pt x="45142" y="63500"/>
                  </a:lnTo>
                  <a:lnTo>
                    <a:pt x="204" y="4773"/>
                  </a:lnTo>
                  <a:lnTo>
                    <a:pt x="0" y="102349"/>
                  </a:lnTo>
                  <a:close/>
                </a:path>
              </a:pathLst>
            </a:custGeom>
            <a:solidFill>
              <a:srgbClr val="FFF2CC">
                <a:alpha val="85882"/>
              </a:srgbClr>
            </a:solidFill>
            <a:ln cap="flat" cmpd="sng" w="2540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9" name="Google Shape;149;p26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47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9" name="Google Shape;159;p26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0" name="Google Shape;160;p26"/>
          <p:cNvCxnSpPr/>
          <p:nvPr/>
        </p:nvCxnSpPr>
        <p:spPr>
          <a:xfrm>
            <a:off x="657526" y="431831"/>
            <a:ext cx="1804543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4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26"/>
          <p:cNvSpPr/>
          <p:nvPr/>
        </p:nvSpPr>
        <p:spPr>
          <a:xfrm>
            <a:off x="614663" y="11430"/>
            <a:ext cx="1847405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0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발표 순서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26"/>
          <p:cNvSpPr/>
          <p:nvPr/>
        </p:nvSpPr>
        <p:spPr>
          <a:xfrm rot="-150834">
            <a:off x="215325" y="2090053"/>
            <a:ext cx="262501" cy="970573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2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26"/>
          <p:cNvSpPr/>
          <p:nvPr/>
        </p:nvSpPr>
        <p:spPr>
          <a:xfrm rot="209007">
            <a:off x="8691834" y="2090053"/>
            <a:ext cx="262501" cy="970573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2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998681" y="916470"/>
            <a:ext cx="33659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</a:t>
            </a: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프로젝트 주제 선정 동기</a:t>
            </a: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998731" y="2294861"/>
            <a:ext cx="336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프로젝트 소개</a:t>
            </a:r>
            <a:endParaRPr/>
          </a:p>
        </p:txBody>
      </p:sp>
      <p:sp>
        <p:nvSpPr>
          <p:cNvPr id="166" name="Google Shape;166;p26"/>
          <p:cNvSpPr txBox="1"/>
          <p:nvPr/>
        </p:nvSpPr>
        <p:spPr>
          <a:xfrm>
            <a:off x="998728" y="3624050"/>
            <a:ext cx="91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 </a:t>
            </a:r>
            <a:r>
              <a:rPr b="1"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</a:t>
            </a: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코드 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2" name="Google Shape;172;p27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47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27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3" name="Google Shape;183;p27"/>
          <p:cNvCxnSpPr/>
          <p:nvPr/>
        </p:nvCxnSpPr>
        <p:spPr>
          <a:xfrm>
            <a:off x="657526" y="431831"/>
            <a:ext cx="2696348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4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27"/>
          <p:cNvSpPr/>
          <p:nvPr/>
        </p:nvSpPr>
        <p:spPr>
          <a:xfrm>
            <a:off x="614663" y="11430"/>
            <a:ext cx="273921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주제 선정 동기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27"/>
          <p:cNvSpPr/>
          <p:nvPr/>
        </p:nvSpPr>
        <p:spPr>
          <a:xfrm rot="-150834">
            <a:off x="215325" y="2090053"/>
            <a:ext cx="262501" cy="970573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2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27"/>
          <p:cNvSpPr/>
          <p:nvPr/>
        </p:nvSpPr>
        <p:spPr>
          <a:xfrm rot="209007">
            <a:off x="8691834" y="2090053"/>
            <a:ext cx="262501" cy="970573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2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 rotWithShape="1">
          <a:blip r:embed="rId3">
            <a:alphaModFix/>
          </a:blip>
          <a:srcRect b="16321" l="19573" r="18740" t="17251"/>
          <a:stretch/>
        </p:blipFill>
        <p:spPr>
          <a:xfrm>
            <a:off x="1444975" y="1294275"/>
            <a:ext cx="3348350" cy="270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825" y="2084775"/>
            <a:ext cx="2174300" cy="17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94" name="Google Shape;194;p28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04" name="Google Shape;204;p28"/>
          <p:cNvSpPr/>
          <p:nvPr/>
        </p:nvSpPr>
        <p:spPr>
          <a:xfrm>
            <a:off x="385472" y="58301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5" name="Google Shape;205;p28"/>
          <p:cNvCxnSpPr/>
          <p:nvPr/>
        </p:nvCxnSpPr>
        <p:spPr>
          <a:xfrm>
            <a:off x="657526" y="431831"/>
            <a:ext cx="26964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28"/>
          <p:cNvSpPr/>
          <p:nvPr/>
        </p:nvSpPr>
        <p:spPr>
          <a:xfrm>
            <a:off x="614663" y="11430"/>
            <a:ext cx="273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프로젝트 소개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28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28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896648" y="890050"/>
            <a:ext cx="6372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1.소켓 통신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662" y="1134689"/>
            <a:ext cx="2879999" cy="3600001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16" name="Google Shape;216;p29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6" name="Google Shape;226;p29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7" name="Google Shape;227;p29"/>
          <p:cNvCxnSpPr/>
          <p:nvPr/>
        </p:nvCxnSpPr>
        <p:spPr>
          <a:xfrm>
            <a:off x="657526" y="431831"/>
            <a:ext cx="26964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29"/>
          <p:cNvSpPr/>
          <p:nvPr/>
        </p:nvSpPr>
        <p:spPr>
          <a:xfrm>
            <a:off x="614663" y="11430"/>
            <a:ext cx="273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프로젝트 소개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29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29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814632" y="833775"/>
            <a:ext cx="5791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b="1" lang="ko"/>
              <a:t> 로그인 기능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2" name="Google Shape;232;p29"/>
          <p:cNvPicPr preferRelativeResize="0"/>
          <p:nvPr/>
        </p:nvPicPr>
        <p:blipFill rotWithShape="1">
          <a:blip r:embed="rId3">
            <a:alphaModFix/>
          </a:blip>
          <a:srcRect b="3327" l="2529" r="1657" t="3196"/>
          <a:stretch/>
        </p:blipFill>
        <p:spPr>
          <a:xfrm>
            <a:off x="2239663" y="1154350"/>
            <a:ext cx="4679999" cy="3600000"/>
          </a:xfrm>
          <a:prstGeom prst="rect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38" name="Google Shape;238;p30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8" name="Google Shape;248;p30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9" name="Google Shape;249;p30"/>
          <p:cNvCxnSpPr/>
          <p:nvPr/>
        </p:nvCxnSpPr>
        <p:spPr>
          <a:xfrm>
            <a:off x="657526" y="431831"/>
            <a:ext cx="26964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30"/>
          <p:cNvSpPr/>
          <p:nvPr/>
        </p:nvSpPr>
        <p:spPr>
          <a:xfrm>
            <a:off x="614663" y="11430"/>
            <a:ext cx="273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프로젝트 소개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30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30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896648" y="890050"/>
            <a:ext cx="6372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물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 리스트 확인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4" name="Google Shape;2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64" y="1154350"/>
            <a:ext cx="4679999" cy="3600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1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60" name="Google Shape;260;p31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0" name="Google Shape;270;p31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1" name="Google Shape;271;p31"/>
          <p:cNvCxnSpPr/>
          <p:nvPr/>
        </p:nvCxnSpPr>
        <p:spPr>
          <a:xfrm>
            <a:off x="657526" y="431831"/>
            <a:ext cx="26964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31"/>
          <p:cNvSpPr/>
          <p:nvPr/>
        </p:nvSpPr>
        <p:spPr>
          <a:xfrm>
            <a:off x="614663" y="11430"/>
            <a:ext cx="273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프로젝트 소개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31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31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896648" y="890050"/>
            <a:ext cx="6372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물품 발주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6" name="Google Shape;2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62" y="1154350"/>
            <a:ext cx="4680000" cy="3600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82" name="Google Shape;282;p32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6" name="Google Shape;286;p32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7" name="Google Shape;287;p32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9" name="Google Shape;289;p32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1" name="Google Shape;291;p32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92" name="Google Shape;292;p32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3" name="Google Shape;293;p32"/>
          <p:cNvCxnSpPr/>
          <p:nvPr/>
        </p:nvCxnSpPr>
        <p:spPr>
          <a:xfrm>
            <a:off x="657526" y="431831"/>
            <a:ext cx="26964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32"/>
          <p:cNvSpPr/>
          <p:nvPr/>
        </p:nvSpPr>
        <p:spPr>
          <a:xfrm>
            <a:off x="614663" y="11430"/>
            <a:ext cx="273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프로젝트 소개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32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32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896648" y="890050"/>
            <a:ext cx="6372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발</a:t>
            </a:r>
            <a:r>
              <a:rPr b="1"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리스트 확인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8" name="Google Shape;2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63" y="1154350"/>
            <a:ext cx="4679999" cy="36000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3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04" name="Google Shape;304;p33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2" name="Google Shape;312;p33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14" name="Google Shape;314;p33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5" name="Google Shape;315;p33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33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33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33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9" name="Google Shape;3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100" y="608727"/>
            <a:ext cx="4503687" cy="4291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25" name="Google Shape;325;p34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5" name="Google Shape;335;p34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6" name="Google Shape;336;p34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34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34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34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0" name="Google Shape;3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075" y="602650"/>
            <a:ext cx="3588884" cy="43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35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46" name="Google Shape;346;p35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56" name="Google Shape;356;p35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7" name="Google Shape;357;p35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35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35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35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1" name="Google Shape;36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375" y="1287250"/>
            <a:ext cx="4801250" cy="11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1375" y="2827225"/>
            <a:ext cx="4801250" cy="17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3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68" name="Google Shape;368;p36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78" name="Google Shape;378;p36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79" name="Google Shape;379;p36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0" name="Google Shape;380;p36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p36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36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3" name="Google Shape;3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000" y="602650"/>
            <a:ext cx="5267224" cy="43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3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89" name="Google Shape;389;p37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99" name="Google Shape;399;p37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0" name="Google Shape;400;p37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p37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37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37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4" name="Google Shape;4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988" y="954700"/>
            <a:ext cx="5400001" cy="36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3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10" name="Google Shape;410;p38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4" name="Google Shape;414;p38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20" name="Google Shape;420;p38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21" name="Google Shape;421;p38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2" name="Google Shape;422;p38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38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38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25" name="Google Shape;4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927" y="602650"/>
            <a:ext cx="4105088" cy="430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3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31" name="Google Shape;431;p39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41" name="Google Shape;441;p39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2" name="Google Shape;442;p39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39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39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39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6" name="Google Shape;4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000" y="954700"/>
            <a:ext cx="5400001" cy="36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4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52" name="Google Shape;452;p40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2" name="Google Shape;462;p40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63" name="Google Shape;463;p40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4" name="Google Shape;464;p40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40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40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7" name="Google Shape;4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863" y="602650"/>
            <a:ext cx="4781600" cy="43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41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73" name="Google Shape;473;p41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3" name="Google Shape;483;p41"/>
          <p:cNvSpPr/>
          <p:nvPr/>
        </p:nvSpPr>
        <p:spPr>
          <a:xfrm>
            <a:off x="323697" y="602648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4" name="Google Shape;484;p41"/>
          <p:cNvCxnSpPr/>
          <p:nvPr/>
        </p:nvCxnSpPr>
        <p:spPr>
          <a:xfrm flipH="1" rot="10800000">
            <a:off x="657526" y="428531"/>
            <a:ext cx="855300" cy="330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41"/>
          <p:cNvSpPr/>
          <p:nvPr/>
        </p:nvSpPr>
        <p:spPr>
          <a:xfrm>
            <a:off x="614674" y="11425"/>
            <a:ext cx="1032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코드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p41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7" name="Google Shape;487;p41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88" name="Google Shape;4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663" y="954700"/>
            <a:ext cx="5400001" cy="359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4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94" name="Google Shape;494;p42"/>
            <p:cNvSpPr/>
            <p:nvPr/>
          </p:nvSpPr>
          <p:spPr>
            <a:xfrm>
              <a:off x="0" y="609600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673100" y="0"/>
              <a:ext cx="18000" cy="6858000"/>
            </a:xfrm>
            <a:prstGeom prst="rect">
              <a:avLst/>
            </a:prstGeom>
            <a:solidFill>
              <a:srgbClr val="FF7876">
                <a:alpha val="3765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0" y="1307447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0" y="2005294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0" y="2703141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0" y="3400988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0" y="409883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0" y="4796682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0" y="5494529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0" y="6192375"/>
              <a:ext cx="12192000" cy="180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04" name="Google Shape;504;p42"/>
          <p:cNvSpPr/>
          <p:nvPr/>
        </p:nvSpPr>
        <p:spPr>
          <a:xfrm>
            <a:off x="326572" y="602661"/>
            <a:ext cx="8496600" cy="4304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5" name="Google Shape;505;p42"/>
          <p:cNvCxnSpPr/>
          <p:nvPr/>
        </p:nvCxnSpPr>
        <p:spPr>
          <a:xfrm>
            <a:off x="657526" y="431831"/>
            <a:ext cx="1251300" cy="0"/>
          </a:xfrm>
          <a:prstGeom prst="straightConnector1">
            <a:avLst/>
          </a:prstGeom>
          <a:noFill/>
          <a:ln cap="rnd" cmpd="sng" w="92075">
            <a:solidFill>
              <a:srgbClr val="FFC000">
                <a:alpha val="6078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6" name="Google Shape;506;p42"/>
          <p:cNvSpPr/>
          <p:nvPr/>
        </p:nvSpPr>
        <p:spPr>
          <a:xfrm>
            <a:off x="614678" y="11425"/>
            <a:ext cx="1394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3A3838"/>
                </a:solidFill>
              </a:rPr>
              <a:t>마무리</a:t>
            </a:r>
            <a:endParaRPr sz="6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42"/>
          <p:cNvSpPr/>
          <p:nvPr/>
        </p:nvSpPr>
        <p:spPr>
          <a:xfrm rot="-146823">
            <a:off x="214826" y="2090224"/>
            <a:ext cx="262737" cy="97189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42"/>
          <p:cNvSpPr/>
          <p:nvPr/>
        </p:nvSpPr>
        <p:spPr>
          <a:xfrm rot="206018">
            <a:off x="8691102" y="2089884"/>
            <a:ext cx="262220" cy="969119"/>
          </a:xfrm>
          <a:custGeom>
            <a:rect b="b" l="l" r="r" t="t"/>
            <a:pathLst>
              <a:path extrusionOk="0" h="1511300" w="299142">
                <a:moveTo>
                  <a:pt x="0" y="102349"/>
                </a:moveTo>
                <a:cubicBezTo>
                  <a:pt x="115" y="134915"/>
                  <a:pt x="231" y="167481"/>
                  <a:pt x="346" y="200047"/>
                </a:cubicBezTo>
                <a:cubicBezTo>
                  <a:pt x="1058" y="219097"/>
                  <a:pt x="-264" y="371632"/>
                  <a:pt x="448" y="390682"/>
                </a:cubicBezTo>
                <a:cubicBezTo>
                  <a:pt x="2565" y="803432"/>
                  <a:pt x="-1425" y="1060450"/>
                  <a:pt x="692" y="1473200"/>
                </a:cubicBezTo>
                <a:lnTo>
                  <a:pt x="57842" y="1397000"/>
                </a:lnTo>
                <a:lnTo>
                  <a:pt x="102292" y="1473200"/>
                </a:lnTo>
                <a:lnTo>
                  <a:pt x="146742" y="1416050"/>
                </a:lnTo>
                <a:lnTo>
                  <a:pt x="172142" y="1460500"/>
                </a:lnTo>
                <a:lnTo>
                  <a:pt x="172142" y="1397000"/>
                </a:lnTo>
                <a:lnTo>
                  <a:pt x="235642" y="1466850"/>
                </a:lnTo>
                <a:lnTo>
                  <a:pt x="254692" y="1498600"/>
                </a:lnTo>
                <a:lnTo>
                  <a:pt x="254692" y="1441450"/>
                </a:lnTo>
                <a:lnTo>
                  <a:pt x="299142" y="1511300"/>
                </a:lnTo>
                <a:lnTo>
                  <a:pt x="299142" y="0"/>
                </a:lnTo>
                <a:lnTo>
                  <a:pt x="267392" y="63500"/>
                </a:lnTo>
                <a:lnTo>
                  <a:pt x="241992" y="19050"/>
                </a:lnTo>
                <a:lnTo>
                  <a:pt x="229292" y="95250"/>
                </a:lnTo>
                <a:lnTo>
                  <a:pt x="178492" y="25400"/>
                </a:lnTo>
                <a:lnTo>
                  <a:pt x="184842" y="101600"/>
                </a:lnTo>
                <a:lnTo>
                  <a:pt x="134042" y="31750"/>
                </a:lnTo>
                <a:lnTo>
                  <a:pt x="121342" y="107950"/>
                </a:lnTo>
                <a:lnTo>
                  <a:pt x="79252" y="1993"/>
                </a:lnTo>
                <a:lnTo>
                  <a:pt x="45142" y="63500"/>
                </a:lnTo>
                <a:lnTo>
                  <a:pt x="204" y="4773"/>
                </a:lnTo>
                <a:lnTo>
                  <a:pt x="0" y="102349"/>
                </a:lnTo>
                <a:close/>
              </a:path>
            </a:pathLst>
          </a:custGeom>
          <a:solidFill>
            <a:srgbClr val="FFF2CC">
              <a:alpha val="85880"/>
            </a:srgbClr>
          </a:solidFill>
          <a:ln cap="flat" cmpd="sng" w="254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42"/>
          <p:cNvSpPr txBox="1"/>
          <p:nvPr/>
        </p:nvSpPr>
        <p:spPr>
          <a:xfrm>
            <a:off x="3617700" y="1963175"/>
            <a:ext cx="19239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0">
                <a:solidFill>
                  <a:srgbClr val="4A86E8"/>
                </a:solidFill>
              </a:rPr>
              <a:t>Q&amp;A</a:t>
            </a:r>
            <a:endParaRPr sz="60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3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